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628" y="871538"/>
            <a:ext cx="8238744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375"/>
              </a:lnSpc>
              <a:buNone/>
            </a:pPr>
            <a:r>
              <a:rPr lang="en-US" sz="825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🧠</a:t>
            </a:r>
            <a:endParaRPr lang="en-US" sz="8250" dirty="0"/>
          </a:p>
        </p:txBody>
      </p:sp>
      <p:sp>
        <p:nvSpPr>
          <p:cNvPr id="3" name="Text 1"/>
          <p:cNvSpPr/>
          <p:nvPr/>
        </p:nvSpPr>
        <p:spPr>
          <a:xfrm>
            <a:off x="452628" y="2595563"/>
            <a:ext cx="8238744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60"/>
              </a:lnSpc>
              <a:buNone/>
            </a:pPr>
            <a:r>
              <a:rPr lang="en-US" sz="5040" b="1" dirty="0">
                <a:solidFill>
                  <a:srgbClr val="0891B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MyBrainGuide.org</a:t>
            </a:r>
            <a:endParaRPr lang="en-US" sz="5040" dirty="0"/>
          </a:p>
        </p:txBody>
      </p:sp>
      <p:sp>
        <p:nvSpPr>
          <p:cNvPr id="4" name="Text 2"/>
          <p:cNvSpPr/>
          <p:nvPr/>
        </p:nvSpPr>
        <p:spPr>
          <a:xfrm>
            <a:off x="452628" y="3669953"/>
            <a:ext cx="8238744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GA4 Traffic Overview — YTD Jan 1–Aug 6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452628" y="4043214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2026 vs. 2025 Year-Over-Year Comparison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06736"/>
            <a:ext cx="3943350" cy="819150"/>
          </a:xfrm>
          <a:prstGeom prst="roundRect">
            <a:avLst>
              <a:gd name="adj" fmla="val 133953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25" y="1706761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7250" y="1506736"/>
            <a:ext cx="3943350" cy="819150"/>
          </a:xfrm>
          <a:prstGeom prst="roundRect">
            <a:avLst>
              <a:gd name="adj" fmla="val 133953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275" y="1706761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400" y="2516386"/>
            <a:ext cx="3943350" cy="819150"/>
          </a:xfrm>
          <a:prstGeom prst="roundRect">
            <a:avLst>
              <a:gd name="adj" fmla="val 133953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2716411"/>
            <a:ext cx="342900" cy="34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67250" y="2516386"/>
            <a:ext cx="3943350" cy="819150"/>
          </a:xfrm>
          <a:prstGeom prst="roundRect">
            <a:avLst>
              <a:gd name="adj" fmla="val 133953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275" y="2716411"/>
            <a:ext cx="342900" cy="3429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33400" y="3526036"/>
            <a:ext cx="3943350" cy="1009650"/>
          </a:xfrm>
          <a:prstGeom prst="roundRect">
            <a:avLst>
              <a:gd name="adj" fmla="val 108679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3726061"/>
            <a:ext cx="342900" cy="3429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667250" y="3526036"/>
            <a:ext cx="3943350" cy="1009650"/>
          </a:xfrm>
          <a:prstGeom prst="roundRect">
            <a:avLst>
              <a:gd name="adj" fmla="val 108679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275" y="3726061"/>
            <a:ext cx="342900" cy="3429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33400" y="607665"/>
            <a:ext cx="823874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We'll Cover</a:t>
            </a:r>
            <a:endParaRPr lang="en-US" sz="3120" dirty="0"/>
          </a:p>
        </p:txBody>
      </p:sp>
      <p:sp>
        <p:nvSpPr>
          <p:cNvPr id="15" name="Text 7"/>
          <p:cNvSpPr/>
          <p:nvPr/>
        </p:nvSpPr>
        <p:spPr>
          <a:xfrm>
            <a:off x="1228725" y="1706761"/>
            <a:ext cx="26697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Headline KPIs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1228725" y="1935361"/>
            <a:ext cx="26697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Sessions, page views, engagement YoY</a:t>
            </a:r>
            <a:endParaRPr lang="en-US" sz="1050" dirty="0"/>
          </a:p>
        </p:txBody>
      </p:sp>
      <p:sp>
        <p:nvSpPr>
          <p:cNvPr id="17" name="Text 9"/>
          <p:cNvSpPr/>
          <p:nvPr/>
        </p:nvSpPr>
        <p:spPr>
          <a:xfrm>
            <a:off x="5362575" y="1706761"/>
            <a:ext cx="29366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Channel Mix Shift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5362575" y="1935361"/>
            <a:ext cx="29366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Cross-network, Display, Paid Search moves</a:t>
            </a:r>
            <a:endParaRPr lang="en-US" sz="1050" dirty="0"/>
          </a:p>
        </p:txBody>
      </p:sp>
      <p:sp>
        <p:nvSpPr>
          <p:cNvPr id="19" name="Text 11"/>
          <p:cNvSpPr/>
          <p:nvPr/>
        </p:nvSpPr>
        <p:spPr>
          <a:xfrm>
            <a:off x="1228725" y="2716411"/>
            <a:ext cx="244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Entry Pages &amp; Flow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1228725" y="2945011"/>
            <a:ext cx="24439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Top landing pages and site journeys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5362575" y="2716411"/>
            <a:ext cx="26684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 Takeaways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362575" y="2945011"/>
            <a:ext cx="26684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What's driving results, what to validate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1228725" y="3726061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 Quality Priorities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1228725" y="3954661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Fixes needed before trusting these numbers fully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5362575" y="3726061"/>
            <a:ext cx="2479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362575" y="3954661"/>
            <a:ext cx="2479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Deeper research plan for next round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394520"/>
            <a:ext cx="2565350" cy="1626840"/>
          </a:xfrm>
          <a:prstGeom prst="roundRect">
            <a:avLst>
              <a:gd name="adj" fmla="val 67449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89250" y="1394520"/>
            <a:ext cx="2565350" cy="1626840"/>
          </a:xfrm>
          <a:prstGeom prst="roundRect">
            <a:avLst>
              <a:gd name="adj" fmla="val 67449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394520"/>
            <a:ext cx="2565499" cy="1626840"/>
          </a:xfrm>
          <a:prstGeom prst="roundRect">
            <a:avLst>
              <a:gd name="adj" fmla="val 67449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211860"/>
            <a:ext cx="2565350" cy="1626840"/>
          </a:xfrm>
          <a:prstGeom prst="roundRect">
            <a:avLst>
              <a:gd name="adj" fmla="val 67449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89250" y="3211860"/>
            <a:ext cx="2565350" cy="1626840"/>
          </a:xfrm>
          <a:prstGeom prst="roundRect">
            <a:avLst>
              <a:gd name="adj" fmla="val 67449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45101" y="3211860"/>
            <a:ext cx="2565499" cy="1626840"/>
          </a:xfrm>
          <a:prstGeom prst="roundRect">
            <a:avLst>
              <a:gd name="adj" fmla="val 67449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304949"/>
            <a:ext cx="823874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Headline KPIs, YTD</a:t>
            </a:r>
            <a:endParaRPr lang="en-US" sz="3120" dirty="0"/>
          </a:p>
        </p:txBody>
      </p:sp>
      <p:sp>
        <p:nvSpPr>
          <p:cNvPr id="9" name="Text 7"/>
          <p:cNvSpPr/>
          <p:nvPr/>
        </p:nvSpPr>
        <p:spPr>
          <a:xfrm>
            <a:off x="533400" y="937320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Jan 1 – Aug 6, 2026 vs. same period 2025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0634" y="1632645"/>
            <a:ext cx="21308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Sessions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0634" y="1861245"/>
            <a:ext cx="2130882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</a:t>
            </a:r>
            <a:endParaRPr lang="en-US" sz="2640" dirty="0"/>
          </a:p>
        </p:txBody>
      </p:sp>
      <p:sp>
        <p:nvSpPr>
          <p:cNvPr id="12" name="Text 10"/>
          <p:cNvSpPr/>
          <p:nvPr/>
        </p:nvSpPr>
        <p:spPr>
          <a:xfrm>
            <a:off x="750634" y="2402235"/>
            <a:ext cx="2130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D3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▲ +302% YoY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0634" y="2630835"/>
            <a:ext cx="21308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2025: 91,955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06484" y="1632645"/>
            <a:ext cx="21308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Page Views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06484" y="1861245"/>
            <a:ext cx="2130882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</a:t>
            </a:r>
            <a:endParaRPr lang="en-US" sz="2640" dirty="0"/>
          </a:p>
        </p:txBody>
      </p:sp>
      <p:sp>
        <p:nvSpPr>
          <p:cNvPr id="16" name="Text 14"/>
          <p:cNvSpPr/>
          <p:nvPr/>
        </p:nvSpPr>
        <p:spPr>
          <a:xfrm>
            <a:off x="3506484" y="2402235"/>
            <a:ext cx="2130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D3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▲ +702% YoY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06484" y="2630835"/>
            <a:ext cx="21308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2025: 126,935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62333" y="1632645"/>
            <a:ext cx="21310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Engaged Sessions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2333" y="1861245"/>
            <a:ext cx="213103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</a:t>
            </a:r>
            <a:endParaRPr lang="en-US" sz="2640" dirty="0"/>
          </a:p>
        </p:txBody>
      </p:sp>
      <p:sp>
        <p:nvSpPr>
          <p:cNvPr id="20" name="Text 18"/>
          <p:cNvSpPr/>
          <p:nvPr/>
        </p:nvSpPr>
        <p:spPr>
          <a:xfrm>
            <a:off x="6262333" y="2402235"/>
            <a:ext cx="2131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D3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▲ +780% YoY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62333" y="2630835"/>
            <a:ext cx="21310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2025: 39,584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0634" y="3449985"/>
            <a:ext cx="21308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Engagement Rate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0634" y="3678585"/>
            <a:ext cx="2130882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94.2%</a:t>
            </a:r>
            <a:endParaRPr lang="en-US" sz="2640" dirty="0"/>
          </a:p>
        </p:txBody>
      </p:sp>
      <p:sp>
        <p:nvSpPr>
          <p:cNvPr id="24" name="Text 22"/>
          <p:cNvSpPr/>
          <p:nvPr/>
        </p:nvSpPr>
        <p:spPr>
          <a:xfrm>
            <a:off x="750634" y="4219575"/>
            <a:ext cx="2130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▲ +51.2 pts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0634" y="4448175"/>
            <a:ext cx="21308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2025: 43.0%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06484" y="3449985"/>
            <a:ext cx="21308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Pages / Session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06484" y="3678585"/>
            <a:ext cx="2130882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2.75</a:t>
            </a:r>
            <a:endParaRPr lang="en-US" sz="2640" dirty="0"/>
          </a:p>
        </p:txBody>
      </p:sp>
      <p:sp>
        <p:nvSpPr>
          <p:cNvPr id="28" name="Text 26"/>
          <p:cNvSpPr/>
          <p:nvPr/>
        </p:nvSpPr>
        <p:spPr>
          <a:xfrm>
            <a:off x="3506484" y="4219575"/>
            <a:ext cx="2130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4D39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▲ +99% YoY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06484" y="4448175"/>
            <a:ext cx="21308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2025: 1.38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2333" y="3449985"/>
            <a:ext cx="21310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Homepage Entry Share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2333" y="3678585"/>
            <a:ext cx="213103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2640" b="1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65%</a:t>
            </a:r>
            <a:endParaRPr lang="en-US" sz="2640" dirty="0"/>
          </a:p>
        </p:txBody>
      </p:sp>
      <p:sp>
        <p:nvSpPr>
          <p:cNvPr id="32" name="Text 30"/>
          <p:cNvSpPr/>
          <p:nvPr/>
        </p:nvSpPr>
        <p:spPr>
          <a:xfrm>
            <a:off x="6262333" y="4219575"/>
            <a:ext cx="21310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240,243 sessions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62333" y="4448175"/>
            <a:ext cx="21310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 all landing sessions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5500" y="1651843"/>
            <a:ext cx="5334000" cy="247650"/>
          </a:xfrm>
          <a:prstGeom prst="roundRect">
            <a:avLst>
              <a:gd name="adj" fmla="val 295385"/>
            </a:avLst>
          </a:prstGeom>
          <a:solidFill>
            <a:srgbClr val="0F172A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95500" y="2192685"/>
            <a:ext cx="5334000" cy="247650"/>
          </a:xfrm>
          <a:prstGeom prst="roundRect">
            <a:avLst>
              <a:gd name="adj" fmla="val 295385"/>
            </a:avLst>
          </a:prstGeom>
          <a:solidFill>
            <a:srgbClr val="0F172A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95500" y="2733526"/>
            <a:ext cx="5334000" cy="247650"/>
          </a:xfrm>
          <a:prstGeom prst="roundRect">
            <a:avLst>
              <a:gd name="adj" fmla="val 295385"/>
            </a:avLst>
          </a:prstGeom>
          <a:solidFill>
            <a:srgbClr val="0F172A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95500" y="3203972"/>
            <a:ext cx="5334000" cy="247650"/>
          </a:xfrm>
          <a:prstGeom prst="roundRect">
            <a:avLst>
              <a:gd name="adj" fmla="val 295385"/>
            </a:avLst>
          </a:prstGeom>
          <a:solidFill>
            <a:srgbClr val="0F172A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95500" y="3604022"/>
            <a:ext cx="5334000" cy="247650"/>
          </a:xfrm>
          <a:prstGeom prst="roundRect">
            <a:avLst>
              <a:gd name="adj" fmla="val 295385"/>
            </a:avLst>
          </a:prstGeom>
          <a:solidFill>
            <a:srgbClr val="0F172A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95500" y="4004072"/>
            <a:ext cx="5334000" cy="247650"/>
          </a:xfrm>
          <a:prstGeom prst="roundRect">
            <a:avLst>
              <a:gd name="adj" fmla="val 295385"/>
            </a:avLst>
          </a:prstGeom>
          <a:solidFill>
            <a:srgbClr val="0F172A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95500" y="4404122"/>
            <a:ext cx="5334000" cy="247650"/>
          </a:xfrm>
          <a:prstGeom prst="roundRect">
            <a:avLst>
              <a:gd name="adj" fmla="val 295385"/>
            </a:avLst>
          </a:prstGeom>
          <a:solidFill>
            <a:srgbClr val="0F172A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3400" y="491877"/>
            <a:ext cx="823874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2026 YTD Sessions by Channel</a:t>
            </a:r>
            <a:endParaRPr lang="en-US" sz="3120" dirty="0"/>
          </a:p>
        </p:txBody>
      </p:sp>
      <p:sp>
        <p:nvSpPr>
          <p:cNvPr id="10" name="Text 8"/>
          <p:cNvSpPr/>
          <p:nvPr/>
        </p:nvSpPr>
        <p:spPr>
          <a:xfrm>
            <a:off x="533400" y="1124248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369,900 total sessions — paid channels dominate the mix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3400" y="1678484"/>
            <a:ext cx="145732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Cross-network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562850" y="1581448"/>
            <a:ext cx="104775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183,055 (49.5%)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33400" y="2219325"/>
            <a:ext cx="145732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Display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562850" y="2122289"/>
            <a:ext cx="104775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94,137 (25.4%)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533400" y="2760166"/>
            <a:ext cx="145732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Paid Search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562850" y="2663130"/>
            <a:ext cx="104775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61,100 (16.5%)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33400" y="3230612"/>
            <a:ext cx="145732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Direct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541895" y="3230612"/>
            <a:ext cx="106870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11,198 (3.0%)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33400" y="3630662"/>
            <a:ext cx="145732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Organic Search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541895" y="3630662"/>
            <a:ext cx="106870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8,383 (2.3%)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533400" y="4030712"/>
            <a:ext cx="145732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Unassigned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7541895" y="4030712"/>
            <a:ext cx="106870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7,162 (1.9%)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533400" y="4430762"/>
            <a:ext cx="145732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Referral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7541895" y="4430762"/>
            <a:ext cx="106870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4,216 (1.1%)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630561"/>
            <a:ext cx="8077200" cy="2971800"/>
          </a:xfrm>
          <a:prstGeom prst="roundRect">
            <a:avLst>
              <a:gd name="adj" fmla="val 36923"/>
            </a:avLst>
          </a:prstGeom>
          <a:noFill/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2925" y="1640086"/>
          <a:ext cx="8058150" cy="2952750"/>
        </p:xfrm>
        <a:graphic>
          <a:graphicData uri="http://schemas.openxmlformats.org/drawingml/2006/table">
            <a:tbl>
              <a:tblPr/>
              <a:tblGrid>
                <a:gridCol w="2014538"/>
                <a:gridCol w="2014538"/>
                <a:gridCol w="2014538"/>
                <a:gridCol w="2014538"/>
              </a:tblGrid>
              <a:tr h="4218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Channel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2025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2026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Change</a:t>
                      </a:r>
                      <a:endParaRPr lang="en-US" sz="90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Cross-network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613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183,055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+29,762%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Display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6,774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94,137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+1,290%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Paid Search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65,129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61,100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97316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−6.2%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Organic Search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2,863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8,383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+193%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Referral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2,876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4,216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+47%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Direct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9,200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11,198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-apple-system" pitchFamily="34" charset="0"/>
                          <a:ea typeface="-apple-system" pitchFamily="34" charset="-122"/>
                          <a:cs typeface="-apple-system" pitchFamily="34" charset="-120"/>
                        </a:rPr>
                        <a:t>+22%</a:t>
                      </a:r>
                      <a:endParaRPr lang="en-US" sz="1050" dirty="0">
                        <a:latin typeface="-apple-system" charset="0"/>
                        <a:ea typeface="-apple-system" charset="0"/>
                        <a:cs typeface="-apple-system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33400" y="540990"/>
            <a:ext cx="823874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Channel Change, YoY</a:t>
            </a:r>
            <a:endParaRPr lang="en-US" sz="3120" dirty="0"/>
          </a:p>
        </p:txBody>
      </p:sp>
      <p:sp>
        <p:nvSpPr>
          <p:cNvPr id="5" name="Text 2"/>
          <p:cNvSpPr/>
          <p:nvPr/>
        </p:nvSpPr>
        <p:spPr>
          <a:xfrm>
            <a:off x="533400" y="1173361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Cross-network and Display explain nearly all of the growth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5500" y="1946970"/>
            <a:ext cx="5334000" cy="247650"/>
          </a:xfrm>
          <a:prstGeom prst="roundRect">
            <a:avLst>
              <a:gd name="adj" fmla="val 295385"/>
            </a:avLst>
          </a:prstGeom>
          <a:solidFill>
            <a:srgbClr val="0F172A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95500" y="2308920"/>
            <a:ext cx="5334000" cy="247650"/>
          </a:xfrm>
          <a:prstGeom prst="roundRect">
            <a:avLst>
              <a:gd name="adj" fmla="val 295385"/>
            </a:avLst>
          </a:prstGeom>
          <a:solidFill>
            <a:srgbClr val="0F172A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95500" y="2741265"/>
            <a:ext cx="5334000" cy="247650"/>
          </a:xfrm>
          <a:prstGeom prst="roundRect">
            <a:avLst>
              <a:gd name="adj" fmla="val 295385"/>
            </a:avLst>
          </a:prstGeom>
          <a:solidFill>
            <a:srgbClr val="0F172A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95500" y="3173611"/>
            <a:ext cx="5334000" cy="247650"/>
          </a:xfrm>
          <a:prstGeom prst="roundRect">
            <a:avLst>
              <a:gd name="adj" fmla="val 295385"/>
            </a:avLst>
          </a:prstGeom>
          <a:solidFill>
            <a:srgbClr val="0F172A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95500" y="3605957"/>
            <a:ext cx="5334000" cy="247650"/>
          </a:xfrm>
          <a:prstGeom prst="roundRect">
            <a:avLst>
              <a:gd name="adj" fmla="val 295385"/>
            </a:avLst>
          </a:prstGeom>
          <a:solidFill>
            <a:srgbClr val="0F172A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95500" y="4038302"/>
            <a:ext cx="5334000" cy="247650"/>
          </a:xfrm>
          <a:prstGeom prst="roundRect">
            <a:avLst>
              <a:gd name="adj" fmla="val 295385"/>
            </a:avLst>
          </a:prstGeom>
          <a:solidFill>
            <a:srgbClr val="0F172A">
              <a:alpha val="6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857399"/>
            <a:ext cx="823874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Entry Pages, YTD 2026</a:t>
            </a:r>
            <a:endParaRPr lang="en-US" sz="3120" dirty="0"/>
          </a:p>
        </p:txBody>
      </p:sp>
      <p:sp>
        <p:nvSpPr>
          <p:cNvPr id="9" name="Text 7"/>
          <p:cNvSpPr/>
          <p:nvPr/>
        </p:nvSpPr>
        <p:spPr>
          <a:xfrm>
            <a:off x="533400" y="1489770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Homepage dominates; clinical trials &amp; community content lead secondary entries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3400" y="1973610"/>
            <a:ext cx="145732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Homepage (/)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541895" y="1973610"/>
            <a:ext cx="106870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240,243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533400" y="2335560"/>
            <a:ext cx="145732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Clinical Trials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541895" y="2335560"/>
            <a:ext cx="106870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35,453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33400" y="2670870"/>
            <a:ext cx="142875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Brain Health Communities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541895" y="2767905"/>
            <a:ext cx="106870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16,032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33400" y="3200251"/>
            <a:ext cx="145732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Find a Provider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541895" y="3200251"/>
            <a:ext cx="106870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13,365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533400" y="3535561"/>
            <a:ext cx="142875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ES Brain Health page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541895" y="3632597"/>
            <a:ext cx="106870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13,177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33400" y="4064943"/>
            <a:ext cx="145732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/go365/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541895" y="4064943"/>
            <a:ext cx="1068705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4,400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478161"/>
            <a:ext cx="2412355" cy="990600"/>
          </a:xfrm>
          <a:prstGeom prst="roundRect">
            <a:avLst>
              <a:gd name="adj" fmla="val 1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65897" y="1478161"/>
            <a:ext cx="2412355" cy="990600"/>
          </a:xfrm>
          <a:prstGeom prst="roundRect">
            <a:avLst>
              <a:gd name="adj" fmla="val 1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98394" y="1478161"/>
            <a:ext cx="2412355" cy="990600"/>
          </a:xfrm>
          <a:prstGeom prst="roundRect">
            <a:avLst>
              <a:gd name="adj" fmla="val 110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773561"/>
            <a:ext cx="8077200" cy="781050"/>
          </a:xfrm>
          <a:prstGeom prst="roundRect">
            <a:avLst>
              <a:gd name="adj" fmla="val 140488"/>
            </a:avLst>
          </a:prstGeom>
          <a:solidFill>
            <a:srgbClr val="EFF6FF"/>
          </a:solidFill>
          <a:ln w="9525">
            <a:solidFill>
              <a:srgbClr val="0F172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3707011"/>
            <a:ext cx="8077200" cy="781050"/>
          </a:xfrm>
          <a:prstGeom prst="roundRect">
            <a:avLst>
              <a:gd name="adj" fmla="val 140488"/>
            </a:avLst>
          </a:prstGeom>
          <a:solidFill>
            <a:srgbClr val="EFF6FF"/>
          </a:solidFill>
          <a:ln w="9525">
            <a:solidFill>
              <a:srgbClr val="0F172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655290"/>
            <a:ext cx="823874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Typical Visitor Flow</a:t>
            </a:r>
            <a:endParaRPr lang="en-US" sz="3120" dirty="0"/>
          </a:p>
        </p:txBody>
      </p:sp>
      <p:sp>
        <p:nvSpPr>
          <p:cNvPr id="8" name="Text 6"/>
          <p:cNvSpPr/>
          <p:nvPr/>
        </p:nvSpPr>
        <p:spPr>
          <a:xfrm>
            <a:off x="742067" y="1668661"/>
            <a:ext cx="2033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2067" y="1859161"/>
            <a:ext cx="203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Paid Acquisition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2067" y="2125861"/>
            <a:ext cx="2033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Cross-network / Display / Search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60055" y="1821061"/>
            <a:ext cx="1953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74564" y="1668661"/>
            <a:ext cx="2033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74564" y="1859161"/>
            <a:ext cx="203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Homepage Landing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74564" y="2125861"/>
            <a:ext cx="2033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65% of all sessions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92552" y="1821061"/>
            <a:ext cx="1953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7061" y="1668661"/>
            <a:ext cx="2033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7061" y="1859161"/>
            <a:ext cx="203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Topic Deep-Dive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7061" y="2125861"/>
            <a:ext cx="2033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Trials, provider finder, community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3425" y="2973586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9731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⚠ Data quality flag: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~20,305 landing sessions carry malformed URLs (nested full-URL params, misspelled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), fragmenting true attribution.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3425" y="3907036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Exit-page limitation: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GA4's Exits metric isn't exposed via this connector — recommend a GA4 Explore Path Exploration from Homepage, Clinical Trials, and Find-a-Provider to identify true drop-off points.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944910"/>
            <a:ext cx="8077200" cy="7239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783110"/>
            <a:ext cx="8077200" cy="7239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621310"/>
            <a:ext cx="8077200" cy="7239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459510"/>
            <a:ext cx="8077200" cy="7239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4297710"/>
            <a:ext cx="8077200" cy="7239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22039"/>
            <a:ext cx="823874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Takeaways — Part 1</a:t>
            </a:r>
            <a:endParaRPr lang="en-US" sz="3120" dirty="0"/>
          </a:p>
        </p:txBody>
      </p:sp>
      <p:sp>
        <p:nvSpPr>
          <p:cNvPr id="8" name="Text 6"/>
          <p:cNvSpPr/>
          <p:nvPr/>
        </p:nvSpPr>
        <p:spPr>
          <a:xfrm>
            <a:off x="723900" y="1097310"/>
            <a:ext cx="7888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1. Traffic quadrupled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3900" y="1325910"/>
            <a:ext cx="78889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Sessions rose 302%, adding ~278,000 visits YoY.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3900" y="1935510"/>
            <a:ext cx="7888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2. Content consumption grew faster than traffic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3900" y="2164110"/>
            <a:ext cx="78889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Page views up 702%; pages/session nearly doubled to 2.75.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3900" y="2773710"/>
            <a:ext cx="7888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 Cross-network is the single biggest change 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3900" y="3002310"/>
            <a:ext cx="78889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613 → 183,055 sessions; now 49.5% of all traffic.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3900" y="3611910"/>
            <a:ext cx="7888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4. Display became a core acquisition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900" y="3840510"/>
            <a:ext cx="78889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+1,290% growth; now a quarter of all sessions.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3900" y="4450110"/>
            <a:ext cx="7888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5. Paid Search is comparatively flat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3900" y="4678710"/>
            <a:ext cx="78889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-6.2% YoY — no longer the dominant paid channel.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944910"/>
            <a:ext cx="8077200" cy="7239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783110"/>
            <a:ext cx="8077200" cy="7239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2621310"/>
            <a:ext cx="8077200" cy="7239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3459510"/>
            <a:ext cx="8077200" cy="7239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4297710"/>
            <a:ext cx="8077200" cy="7239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22039"/>
            <a:ext cx="823874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Takeaways — Part 2</a:t>
            </a:r>
            <a:endParaRPr lang="en-US" sz="3120" dirty="0"/>
          </a:p>
        </p:txBody>
      </p:sp>
      <p:sp>
        <p:nvSpPr>
          <p:cNvPr id="8" name="Text 6"/>
          <p:cNvSpPr/>
          <p:nvPr/>
        </p:nvSpPr>
        <p:spPr>
          <a:xfrm>
            <a:off x="723900" y="1097310"/>
            <a:ext cx="7888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6. Paid mix concentration is high-risk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3900" y="1325910"/>
            <a:ext cx="78889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91.5% of sessions from 3 paid channels — heavy dependency.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3900" y="1935510"/>
            <a:ext cx="7888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7. Organic Search is under-scaled but promising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3900" y="2164110"/>
            <a:ext cx="78889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+193% growth, ~5 min average session — SEO opportunity.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3900" y="2773710"/>
            <a:ext cx="7888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8. Referral traffic is the most engaged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3900" y="3002310"/>
            <a:ext cx="78889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Only 1.1% of sessions but ~10 min average duration.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3900" y="3611910"/>
            <a:ext cx="7888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9. Homepage remains the front door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3900" y="3840510"/>
            <a:ext cx="78889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240,243 landing sessions (65%); trials &amp; provider finder lead secondary entries.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3900" y="4450110"/>
            <a:ext cx="7888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10. The engagement jump needs validation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3900" y="4678710"/>
            <a:ext cx="78889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43.0% → 94.2% is unusually large — audit tracking/config before trusting it fully.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859161"/>
            <a:ext cx="3962400" cy="1047750"/>
          </a:xfrm>
          <a:prstGeom prst="roundRect">
            <a:avLst>
              <a:gd name="adj" fmla="val 104727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859161"/>
            <a:ext cx="3962400" cy="1047750"/>
          </a:xfrm>
          <a:prstGeom prst="roundRect">
            <a:avLst>
              <a:gd name="adj" fmla="val 104727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3059311"/>
            <a:ext cx="3962400" cy="1047750"/>
          </a:xfrm>
          <a:prstGeom prst="roundRect">
            <a:avLst>
              <a:gd name="adj" fmla="val 104727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48200" y="3059311"/>
            <a:ext cx="3962400" cy="1047750"/>
          </a:xfrm>
          <a:prstGeom prst="roundRect">
            <a:avLst>
              <a:gd name="adj" fmla="val 104727"/>
            </a:avLst>
          </a:prstGeom>
          <a:solidFill>
            <a:srgbClr val="FFFFFF"/>
          </a:solidFill>
          <a:ln w="9525">
            <a:solidFill>
              <a:srgbClr val="0F172A"/>
            </a:solidFill>
          </a:ln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2628" y="1036290"/>
            <a:ext cx="823874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buNone/>
            </a:pPr>
            <a:r>
              <a:rPr lang="en-US" sz="3120" b="1" dirty="0">
                <a:solidFill>
                  <a:srgbClr val="0F17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Recommended Next Steps</a:t>
            </a:r>
            <a:endParaRPr lang="en-US" sz="3120" dirty="0"/>
          </a:p>
        </p:txBody>
      </p:sp>
      <p:sp>
        <p:nvSpPr>
          <p:cNvPr id="7" name="Text 5"/>
          <p:cNvSpPr/>
          <p:nvPr/>
        </p:nvSpPr>
        <p:spPr>
          <a:xfrm>
            <a:off x="733425" y="2059186"/>
            <a:ext cx="36335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🔧 Fix attribution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3425" y="2325886"/>
            <a:ext cx="3562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Correct malformed UTMs and the "goole" misspelling.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8225" y="2059186"/>
            <a:ext cx="36335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🔍 Audit the engagement spike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8225" y="2325886"/>
            <a:ext cx="3562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Confirm no GA4 event/consent config change inflated the rate.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3425" y="3259336"/>
            <a:ext cx="36335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🧭 Map true exit 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3425" y="3526036"/>
            <a:ext cx="36335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 GA4 Path Exploration from top 3 landing pages.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8225" y="3259336"/>
            <a:ext cx="36335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🌱 Diversify beyond paid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8225" y="3526036"/>
            <a:ext cx="3562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Invest in SEO and referral partnerships given strong engagement.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2026-08-07T00:54:32Z</dcterms:created>
  <dcterms:modified xsi:type="dcterms:W3CDTF">2026-08-07T00:54:32Z</dcterms:modified>
</cp:coreProperties>
</file>